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79CE5D-8F94-8424-EC96-0E6885E310FE}">
          <p14:sldIdLst>
            <p14:sldId id="256"/>
            <p14:sldId id="257"/>
            <p14:sldId id="258"/>
            <p14:sldId id="259"/>
          </p14:sldIdLst>
        </p14:section>
        <p14:section name="Analysis" id="{721D39A5-E816-1D6F-3B39-20AF3B4D531E}">
          <p14:sldIdLst>
            <p14:sldId id="260"/>
            <p14:sldId id="261"/>
            <p14:sldId id="262"/>
            <p14:sldId id="263"/>
          </p14:sldIdLst>
        </p14:section>
        <p14:section name="Product" id="{44EB729E-96D6-FA95-2EED-364BA96A067F}">
          <p14:sldIdLst>
            <p14:sldId id="264"/>
            <p14:sldId id="265"/>
          </p14:sldIdLst>
        </p14:section>
        <p14:section name="Outlook" id="{217E7510-CB67-4D7C-1348-FA5787220394}">
          <p14:sldIdLst/>
        </p14:section>
        <p14:section name="Wrap-up" id="{5042F954-60FF-345F-3DD2-5A21B0099298}">
          <p14:sldIdLst>
            <p14:sldId id="268"/>
            <p14:sldId id="269"/>
          </p14:sldIdLst>
        </p14:section>
        <p14:section name="Close" id="{2FE43533-8E36-292C-A323-842F36F9D25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E1B4B"/>
                </a:solidFill>
                <a:latin typeface="+mn-lt"/>
              </a:rPr>
              <a:t>Hourly: median $/hr with keyword (overall 22.5)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$/hr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tax</c:v>
                </c:pt>
                <c:pt idx="1">
                  <c:v>consultation</c:v>
                </c:pt>
                <c:pt idx="2">
                  <c:v>videographer</c:v>
                </c:pt>
                <c:pt idx="3">
                  <c:v>consultant</c:v>
                </c:pt>
                <c:pt idx="4">
                  <c:v>engineer</c:v>
                </c:pt>
                <c:pt idx="5">
                  <c:v>lead</c:v>
                </c:pt>
                <c:pt idx="6">
                  <c:v>assistant</c:v>
                </c:pt>
                <c:pt idx="7">
                  <c:v>cold</c:v>
                </c:pt>
                <c:pt idx="8">
                  <c:v>virtual</c:v>
                </c:pt>
                <c:pt idx="9">
                  <c:v>va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48.5</c:v>
                </c:pt>
                <c:pt idx="2">
                  <c:v>42.5</c:v>
                </c:pt>
                <c:pt idx="3">
                  <c:v>40</c:v>
                </c:pt>
                <c:pt idx="4">
                  <c:v>30</c:v>
                </c:pt>
                <c:pt idx="5">
                  <c:v>10</c:v>
                </c:pt>
                <c:pt idx="6">
                  <c:v>8.5</c:v>
                </c:pt>
                <c:pt idx="7">
                  <c:v>8</c:v>
                </c:pt>
                <c:pt idx="8">
                  <c:v>7.5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39-430E-AD2C-EAD84D4B0F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E1B4B"/>
                </a:solidFill>
                <a:latin typeface="+mn-lt"/>
              </a:rPr>
              <a:t>Fixed: median $ with keyword (overall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expensify</c:v>
                </c:pt>
                <c:pt idx="1">
                  <c:v>development</c:v>
                </c:pt>
                <c:pt idx="2">
                  <c:v>sales</c:v>
                </c:pt>
                <c:pt idx="3">
                  <c:v>build</c:v>
                </c:pt>
                <c:pt idx="4">
                  <c:v>developer</c:v>
                </c:pt>
                <c:pt idx="5">
                  <c:v>logo</c:v>
                </c:pt>
                <c:pt idx="6">
                  <c:v>need</c:v>
                </c:pt>
                <c:pt idx="7">
                  <c:v>fix</c:v>
                </c:pt>
                <c:pt idx="8">
                  <c:v>recording</c:v>
                </c:pt>
                <c:pt idx="9">
                  <c:v>speakers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</c:v>
                </c:pt>
                <c:pt idx="1">
                  <c:v>300</c:v>
                </c:pt>
                <c:pt idx="2">
                  <c:v>250</c:v>
                </c:pt>
                <c:pt idx="3">
                  <c:v>200</c:v>
                </c:pt>
                <c:pt idx="4">
                  <c:v>150</c:v>
                </c:pt>
                <c:pt idx="5">
                  <c:v>50</c:v>
                </c:pt>
                <c:pt idx="6">
                  <c:v>50</c:v>
                </c:pt>
                <c:pt idx="7">
                  <c:v>30</c:v>
                </c:pt>
                <c:pt idx="8">
                  <c:v>15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1B-4852-9188-B502B7A0CB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E1B4B"/>
                </a:solidFill>
                <a:latin typeface="+mn-lt"/>
              </a:rPr>
              <a:t>Change in share of postings, week 1 to week 5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change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CC-4E43-BCA9-FECEE5DA3A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5CC-4E43-BCA9-FECEE5DA3A1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5CC-4E43-BCA9-FECEE5DA3A1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5CC-4E43-BCA9-FECEE5DA3A1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5CC-4E43-BCA9-FECEE5DA3A1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5CC-4E43-BCA9-FECEE5DA3A1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5CC-4E43-BCA9-FECEE5DA3A17}"/>
              </c:ext>
            </c:extLst>
          </c:dPt>
          <c:dPt>
            <c:idx val="7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5CC-4E43-BCA9-FECEE5DA3A17}"/>
              </c:ext>
            </c:extLst>
          </c:dPt>
          <c:dPt>
            <c:idx val="8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5CC-4E43-BCA9-FECEE5DA3A17}"/>
              </c:ext>
            </c:extLst>
          </c:dPt>
          <c:dPt>
            <c:idx val="9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5CC-4E43-BCA9-FECEE5DA3A17}"/>
              </c:ext>
            </c:extLst>
          </c:dPt>
          <c:dPt>
            <c:idx val="10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25CC-4E43-BCA9-FECEE5DA3A17}"/>
              </c:ext>
            </c:extLst>
          </c:dPt>
          <c:dPt>
            <c:idx val="11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25CC-4E43-BCA9-FECEE5DA3A1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Customer Support</c:v>
                </c:pt>
                <c:pt idx="1">
                  <c:v>Video &amp; Audio</c:v>
                </c:pt>
                <c:pt idx="2">
                  <c:v>AI &amp; Automation</c:v>
                </c:pt>
                <c:pt idx="3">
                  <c:v>Web &amp; Software Dev</c:v>
                </c:pt>
                <c:pt idx="4">
                  <c:v>Social Media</c:v>
                </c:pt>
                <c:pt idx="5">
                  <c:v>Design &amp; Creative</c:v>
                </c:pt>
                <c:pt idx="6">
                  <c:v>Other</c:v>
                </c:pt>
                <c:pt idx="7">
                  <c:v>Marketing &amp; SEO</c:v>
                </c:pt>
                <c:pt idx="8">
                  <c:v>Sales &amp; Lead Gen</c:v>
                </c:pt>
                <c:pt idx="9">
                  <c:v>Data &amp; Analytics</c:v>
                </c:pt>
                <c:pt idx="10">
                  <c:v>Admin &amp; Virtual Assistant</c:v>
                </c:pt>
                <c:pt idx="11">
                  <c:v>Writing &amp; Translation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16.8</c:v>
                </c:pt>
                <c:pt idx="1">
                  <c:v>5.4</c:v>
                </c:pt>
                <c:pt idx="2">
                  <c:v>4.2</c:v>
                </c:pt>
                <c:pt idx="3">
                  <c:v>2</c:v>
                </c:pt>
                <c:pt idx="4">
                  <c:v>1.8</c:v>
                </c:pt>
                <c:pt idx="5">
                  <c:v>1.6</c:v>
                </c:pt>
                <c:pt idx="6">
                  <c:v>0.8</c:v>
                </c:pt>
                <c:pt idx="7">
                  <c:v>-0.5</c:v>
                </c:pt>
                <c:pt idx="8">
                  <c:v>-1.6</c:v>
                </c:pt>
                <c:pt idx="9">
                  <c:v>-5.3</c:v>
                </c:pt>
                <c:pt idx="10">
                  <c:v>-5.9</c:v>
                </c:pt>
                <c:pt idx="11">
                  <c:v>-12.7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25CC-4E43-BCA9-FECEE5DA3A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E1B4B"/>
                </a:solidFill>
                <a:latin typeface="+mn-lt"/>
              </a:rPr>
              <a:t>Held-out MAPE (%),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40-468A-8043-E0C293B5A349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40-468A-8043-E0C293B5A349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40-468A-8043-E0C293B5A349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40-468A-8043-E0C293B5A349}"/>
              </c:ext>
            </c:extLst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40-468A-8043-E0C293B5A34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Seasonal naive</c:v>
                </c:pt>
                <c:pt idx="1">
                  <c:v>Ridge</c:v>
                </c:pt>
                <c:pt idx="2">
                  <c:v>Grad. boosting</c:v>
                </c:pt>
                <c:pt idx="3">
                  <c:v>Random forest</c:v>
                </c:pt>
                <c:pt idx="4">
                  <c:v>Ensemble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8.3000000000000007</c:v>
                </c:pt>
                <c:pt idx="1">
                  <c:v>10.1</c:v>
                </c:pt>
                <c:pt idx="2">
                  <c:v>11.5</c:v>
                </c:pt>
                <c:pt idx="3">
                  <c:v>11.1</c:v>
                </c:pt>
                <c:pt idx="4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040-468A-8043-E0C293B5A3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E1B4B"/>
                </a:solidFill>
                <a:latin typeface="+mn-lt"/>
              </a:rPr>
              <a:t>Median $/hr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$/hr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South Korea</c:v>
                </c:pt>
                <c:pt idx="1">
                  <c:v>Philippines</c:v>
                </c:pt>
                <c:pt idx="2">
                  <c:v>Japan</c:v>
                </c:pt>
                <c:pt idx="3">
                  <c:v>India</c:v>
                </c:pt>
                <c:pt idx="4">
                  <c:v>Pakistan</c:v>
                </c:pt>
                <c:pt idx="5">
                  <c:v>China</c:v>
                </c:pt>
                <c:pt idx="6">
                  <c:v>Bangladesh</c:v>
                </c:pt>
                <c:pt idx="7">
                  <c:v>Australia</c:v>
                </c:pt>
                <c:pt idx="8">
                  <c:v>Nigeria</c:v>
                </c:pt>
                <c:pt idx="9">
                  <c:v>Netherlands</c:v>
                </c:pt>
                <c:pt idx="10">
                  <c:v>Poland</c:v>
                </c:pt>
                <c:pt idx="11">
                  <c:v>Turkey</c:v>
                </c:pt>
                <c:pt idx="12">
                  <c:v>Denmark</c:v>
                </c:pt>
                <c:pt idx="13">
                  <c:v>Saudi Arabia</c:v>
                </c:pt>
                <c:pt idx="14">
                  <c:v>Kenya</c:v>
                </c:pt>
                <c:pt idx="15">
                  <c:v>Vietnam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</c:v>
                </c:pt>
                <c:pt idx="1">
                  <c:v>11</c:v>
                </c:pt>
                <c:pt idx="2">
                  <c:v>15</c:v>
                </c:pt>
                <c:pt idx="3">
                  <c:v>18.5</c:v>
                </c:pt>
                <c:pt idx="4">
                  <c:v>18.5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26.5</c:v>
                </c:pt>
                <c:pt idx="15">
                  <c:v>27.5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F-46BA-AD34-C90625E425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E1B4B"/>
                </a:solidFill>
                <a:latin typeface="+mn-lt"/>
              </a:rPr>
              <a:t>Precision@10 (same-category hits)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Precision@10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E3-4BE7-A5D1-9A88667FACBF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E3-4BE7-A5D1-9A88667FACB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</c:v>
                </c:pt>
                <c:pt idx="1">
                  <c:v>Engine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0.13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E3-4BE7-A5D1-9A88667FAC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86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Nexthikes IT Solution  |  Job Market Analysis and Recommendation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3931920" cy="3931920"/>
          </a:xfrm>
          <a:prstGeom prst="ellipse">
            <a:avLst/>
          </a:prstGeom>
          <a:solidFill>
            <a:srgbClr val="DB2777">
              <a:alpha val="75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291840"/>
            <a:ext cx="3108960" cy="310896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114800"/>
            <a:ext cx="2377440" cy="237744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228600"/>
            <a:ext cx="1371600" cy="1371600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Char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828800"/>
            <a:ext cx="1554480" cy="1554480"/>
          </a:xfrm>
          <a:prstGeom prst="rect">
            <a:avLst/>
          </a:prstGeom>
        </p:spPr>
      </p:pic>
      <p:pic>
        <p:nvPicPr>
          <p:cNvPr id="7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663440"/>
            <a:ext cx="914400" cy="914400"/>
          </a:xfrm>
          <a:prstGeom prst="rect">
            <a:avLst/>
          </a:prstGeom>
        </p:spPr>
      </p:pic>
      <p:pic>
        <p:nvPicPr>
          <p:cNvPr id="8" name="Image 2" descr="Us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4206240"/>
            <a:ext cx="1097280" cy="10972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99669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60120" y="548640"/>
            <a:ext cx="7523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BBF24"/>
                </a:solidFill>
              </a:rPr>
              <a:t>NEXTHIKES IT SOLUTION</a:t>
            </a:r>
            <a:endParaRPr lang="en-US" sz="4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173736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Job Market Analysis and Recommendation System</a:t>
            </a:r>
            <a:endParaRPr lang="en-US" sz="4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4160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Eight analyses, a recommendation API, a monthly dashboard and Docker deployment, built on 244,828 Upwork postings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A5B4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9436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Roshan Kumar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objective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Understand the job market, then help job seekers act on 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Analyz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07568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</a:rPr>
              <a:t>Analyze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Job title keywords vs salary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Emerging job categories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Hourly rates by country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1874520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3" name="Image 2" descr="Predic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07568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2777"/>
                </a:solidFill>
              </a:rPr>
              <a:t>Predict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High-demand roles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Remote work trends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Future market scenarios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Recommen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207568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116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Recommend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Personalized job matches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Flask API with documentation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Web interface and monthly dashboard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22" name="Image 4" descr="Databas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45896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1663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</a:rPr>
              <a:t>Dataset: </a:t>
            </a:r>
            <a:r>
              <a:rPr lang="en-US" sz="1600" dirty="0">
                <a:solidFill>
                  <a:srgbClr val="FFFFFF"/>
                </a:solidFill>
              </a:rPr>
              <a:t>244,828 Upwork postings from 213 countries, with dense coverage from 13 Feb to 24 Mar 2024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Eight tasks, one pipeline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Every task from the project brief is delivered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Keywords vs pay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Job title words and salary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55848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4448" y="1920240"/>
            <a:ext cx="685800" cy="6858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84448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584448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Emerging categories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Posting growth over time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63056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192024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91656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Demand forecast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Predict high-demand roles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970264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98864" y="192024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98864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919886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Hourly rates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198864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Compared across countries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20624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Recommender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Engine, API and UI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355848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84448" y="4206240"/>
            <a:ext cx="685800" cy="685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84448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3584448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Monthly dashboard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3584448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Auto-updating trends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163056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91656" y="420624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391656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6391656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Remote work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6391656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Trends and forecast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970264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198864" y="420624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9198864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8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9198864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Future scenarios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9198864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Pessimistic, base, optimistic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data supports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Know the limits before reading any trend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548640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57.6%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Hourly share</a:t>
            </a:r>
            <a:endParaRPr lang="en-US" sz="1300" dirty="0"/>
          </a:p>
        </p:txBody>
      </p:sp>
      <p:sp>
        <p:nvSpPr>
          <p:cNvPr id="9" name="Stat tile"/>
          <p:cNvSpPr/>
          <p:nvPr/>
        </p:nvSpPr>
        <p:spPr>
          <a:xfrm>
            <a:off x="3355848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47288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213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Countries</a:t>
            </a:r>
            <a:endParaRPr lang="en-US" sz="1300" dirty="0"/>
          </a:p>
        </p:txBody>
      </p:sp>
      <p:sp>
        <p:nvSpPr>
          <p:cNvPr id="12" name="Stat tile"/>
          <p:cNvSpPr/>
          <p:nvPr/>
        </p:nvSpPr>
        <p:spPr>
          <a:xfrm>
            <a:off x="6163056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54496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242,360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254496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Postings in analysis window</a:t>
            </a:r>
            <a:endParaRPr lang="en-US" sz="1300" dirty="0"/>
          </a:p>
        </p:txBody>
      </p:sp>
      <p:sp>
        <p:nvSpPr>
          <p:cNvPr id="15" name="Stat tile"/>
          <p:cNvSpPr/>
          <p:nvPr/>
        </p:nvSpPr>
        <p:spPr>
          <a:xfrm>
            <a:off x="8970264" y="16459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61704" y="1737360"/>
            <a:ext cx="24688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102,036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061704" y="2467966"/>
            <a:ext cx="246888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Valid hourly rates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383280"/>
            <a:ext cx="11064240" cy="2788920"/>
          </a:xfrm>
          <a:prstGeom prst="roundRect">
            <a:avLst>
              <a:gd name="adj" fmla="val 393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611880"/>
            <a:ext cx="105156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Only about 5.5 weeks of dense data (13 Feb to 23 Mar 2024); 283 earlier postings are sparse and excluded from trends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"Monthly" tracking is therefore weekly; 15 Feb has a scrape gap (1.8k vs about 6k postings per day)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Outliers handled: 386 hourly rows (over $200/hr) and 77 fixed budgets (raw max $1,000,000)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Categories and remote flags are keyword rules (19.6% of titles stay 'Other'); no description text exists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1: title keywords vs pay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Held-out R² of all keywords: hourly 26%, fixed 20%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640080" y="1645920"/>
          <a:ext cx="52578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263640" y="1645920"/>
          <a:ext cx="52578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Specialist words (consultant, engineer, developer) go with higher pay; assistant, virtual and lead-gen wording goes with much lower pay. Titles explain only a fifth to a quarter of pay variance.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2: emerging and declining categories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13 Feb to 18 Mar 2024 (5 full weeks)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858000" cy="4572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tile"/>
          <p:cNvSpPr/>
          <p:nvPr/>
        </p:nvSpPr>
        <p:spPr>
          <a:xfrm>
            <a:off x="7680960" y="160020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0" y="1691640"/>
            <a:ext cx="17373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+5.4%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369210"/>
            <a:ext cx="17373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Video &amp; Audio</a:t>
            </a:r>
            <a:endParaRPr lang="en-US" sz="1300" dirty="0"/>
          </a:p>
        </p:txBody>
      </p:sp>
      <p:sp>
        <p:nvSpPr>
          <p:cNvPr id="11" name="Stat tile"/>
          <p:cNvSpPr/>
          <p:nvPr/>
        </p:nvSpPr>
        <p:spPr>
          <a:xfrm>
            <a:off x="9692640" y="160020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84080" y="1691640"/>
            <a:ext cx="17373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-12.7%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784080" y="2369210"/>
            <a:ext cx="17373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Writing &amp; Translation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80960" y="310896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863840" y="3246120"/>
            <a:ext cx="3611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Emerging: Video &amp; Audio (p=0.006)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Declining: Writing &amp; Translation (p=0.0003), Admin/VA (-5.9%, p=0.03)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Rising keywords: crypto +49%, js +35%, facebook +25%, ads +18%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Only the Writing decline survives a Bonferroni correction across 12 categories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3: predicting high-demand roles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Train 20 Feb to 18 Mar 2024, test 19 to 23 Mar 2024 (5-day recursive forecast)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937760" cy="3154680"/>
          </a:xfrm>
          <a:prstGeom prst="roundRect">
            <a:avLst>
              <a:gd name="adj" fmla="val 347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47548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52160" cy="30723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Next 14 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last 14 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Other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17,321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+3.4%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Web &amp; Software Dev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17,110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+1.3%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Design &amp; Creative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12,256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+0.4%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Video &amp; Audio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10,038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+3.2%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Writing &amp; Translation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6,145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</a:rPr>
                        <a:t>-8.6%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Social Media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4,647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</a:rPr>
                        <a:t>-1.7%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Category ranking predicted almost perfectly (Spearman 0.99, top-3 correct), but the simple seasonal baseline is as accurate as the ML models.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With 5 weeks of data, weekly seasonality explains nearly everything; the ensemble gives the lowest MAE (30.6 vs 33.1).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4: hourly rates by client country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Median $/hr, countries with 200+ rated jobs; interactive map and bar chart delivered as HTML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tile"/>
          <p:cNvSpPr/>
          <p:nvPr/>
        </p:nvSpPr>
        <p:spPr>
          <a:xfrm>
            <a:off x="75895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169164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$22.5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3957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Overall median per hour</a:t>
            </a:r>
            <a:endParaRPr lang="en-US" sz="1300" dirty="0"/>
          </a:p>
        </p:txBody>
      </p:sp>
      <p:sp>
        <p:nvSpPr>
          <p:cNvPr id="11" name="Stat tile"/>
          <p:cNvSpPr/>
          <p:nvPr/>
        </p:nvSpPr>
        <p:spPr>
          <a:xfrm>
            <a:off x="96469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38360" y="169164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$25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738360" y="23957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US median (n=47,975)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589520" y="315468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0" y="3291840"/>
            <a:ext cx="3611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Overall mean $27.98; US mean $30.70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Country effect is significant (Kruskal-Wallis H=2,220, p&lt;0.001)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Lowest: South Korea $10, Philippines $11, Japan $15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Top countries are a near-tie with wide intervals; Philippines mean is 2x its median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5: job recommendation engine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TF-IDF title matching + filters + recency, served by a Flask API and web UI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54864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0.96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Hit-rate@10 (400 test profiles)</a:t>
            </a:r>
            <a:endParaRPr lang="en-US" sz="1300" dirty="0"/>
          </a:p>
        </p:txBody>
      </p:sp>
      <p:sp>
        <p:nvSpPr>
          <p:cNvPr id="9" name="Stat tile"/>
          <p:cNvSpPr/>
          <p:nvPr/>
        </p:nvSpPr>
        <p:spPr>
          <a:xfrm>
            <a:off x="429768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912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0.65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nDCG@10</a:t>
            </a:r>
            <a:endParaRPr lang="en-US" sz="1300" dirty="0"/>
          </a:p>
        </p:txBody>
      </p:sp>
      <p:sp>
        <p:nvSpPr>
          <p:cNvPr id="12" name="Stat tile"/>
          <p:cNvSpPr/>
          <p:nvPr/>
        </p:nvSpPr>
        <p:spPr>
          <a:xfrm>
            <a:off x="804672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~0.1 s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per query (244,545 postings)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475488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16" name="Chart 0"/>
          <p:cNvGraphicFramePr/>
          <p:nvPr/>
        </p:nvGraphicFramePr>
        <p:xfrm>
          <a:off x="640080" y="3154680"/>
          <a:ext cx="45720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5486400" y="3108960"/>
            <a:ext cx="612648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715000" y="3291840"/>
            <a:ext cx="57150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Index: 244,545 postings, 35,835 terms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Filters: contract type, country, category, min $/hr, min fixed budget, explicit remote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Endpoints: /api/recommend, /api/meta, /api/metrics, /api/health (docs/API.md)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Limit: titles only, no click data; relevance is topical, not validated with users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6: monthly dashboard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dashboard.html, regenerated on the 1st of each month by the scheduler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1508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Postings/day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Hourly share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 $/hr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 fixed $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Remote wording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Non-US clients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2024-02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5,983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58.3%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$28.03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$100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0.56%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2024-03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6,115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57.0%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$28.01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$100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0.57%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Dashboa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76732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Dashboard</a:t>
            </a:r>
            <a:endParaRPr lang="en-US" sz="2000" dirty="0"/>
          </a:p>
        </p:txBody>
      </p:sp>
      <p:sp>
        <p:nvSpPr>
          <p:cNvPr id="6" name="Text 6"/>
          <p:cNvSpPr txBox="1"/>
          <p:nvPr/>
        </p:nvSpPr>
        <p:spPr>
          <a:xfrm>
            <a:off x="77724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KPI cards: last 7 days vs prior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Daily volume with range buttons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Weekly category mix, pay trends, top countries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29768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26280" y="3611880"/>
            <a:ext cx="640080" cy="64008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4" name="Image 2" descr="Month to mont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767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0352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2777"/>
                </a:solidFill>
              </a:rPr>
              <a:t>Month to month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452628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+2.2% postings per day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-0.1% mean hourly rate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Changes between months are small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04672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75320" y="3611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Auto-updat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76732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5256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Auto-update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827532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Drop a new data.csv in data/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Scheduler container re-runs the pipeline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Runs at start and on the 1st of each month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Deployment and deliverables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Docker Compose: three services sharing one output volume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19019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Image / file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web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nginx/Dockerfile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Reverse proxy on :8080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app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Dockerfile.app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gunicorn + Flask API, UI, dashboard hosting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Dockerfile.scheduler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Runs pipeline at start and on the 1st of each month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749040"/>
            <a:ext cx="5486400" cy="2423160"/>
          </a:xfrm>
          <a:prstGeom prst="roundRect">
            <a:avLst>
              <a:gd name="adj" fmla="val 452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Run it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3434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http://localhost:8080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17920" y="374904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4652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Reproducible and tested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4343400"/>
            <a:ext cx="498348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python -m jobmarket.pipeline writes figures, tables and metrics.json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pytest tests/ covers API validation and filtering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Built with Python, Scikit-Learn, Flask, gunicorn and nginx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Honest limits, and how the next months improve them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8" name="Image 1" descr="Limitation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19842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834640"/>
            <a:ext cx="4892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Five weeks of data: trends are indicative, not seasonal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Categories and remote flags are rule-based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Recommender is title-only and evaluated offline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Forecast accuracy measured on a 5-day holdout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17920" y="16459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92240" y="182880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Next step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9842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092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834640"/>
            <a:ext cx="4892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Collect several months of data before drawing seasonal conclusions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Use job descriptions for better skill and remote detection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Add user feedback (clicks, applies) to validate and personalise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Monthly refresh enables real month-over-month and seasonal models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DB2777">
              <a:alpha val="75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2468880" cy="246888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4846320"/>
            <a:ext cx="1280160" cy="128016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Smi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</a:rPr>
              <a:t>Thank you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D2FE"/>
                </a:solidFill>
              </a:rPr>
              <a:t>Questions and discussion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343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Roshan Kumar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BBF24"/>
                </a:solidFill>
              </a:rPr>
              <a:t>NEXTHIKES IT SOLUTION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thikes Bright">
  <a:themeElements>
    <a:clrScheme name="Nexthikes Bright">
      <a:dk1>
        <a:srgbClr val="1F2937"/>
      </a:dk1>
      <a:lt1>
        <a:srgbClr val="FFFFFF"/>
      </a:lt1>
      <a:dk2>
        <a:srgbClr val="1E1B4B"/>
      </a:dk2>
      <a:lt2>
        <a:srgbClr val="F5F3FF"/>
      </a:lt2>
      <a:accent1>
        <a:srgbClr val="4F46E5"/>
      </a:accent1>
      <a:accent2>
        <a:srgbClr val="DB2777"/>
      </a:accent2>
      <a:accent3>
        <a:srgbClr val="D97706"/>
      </a:accent3>
      <a:accent4>
        <a:srgbClr val="0D9488"/>
      </a:accent4>
      <a:accent5>
        <a:srgbClr val="7C3AED"/>
      </a:accent5>
      <a:accent6>
        <a:srgbClr val="E11D48"/>
      </a:accent6>
      <a:hlink>
        <a:srgbClr val="4F46E5"/>
      </a:hlink>
      <a:folHlink>
        <a:srgbClr val="7C3AED"/>
      </a:folHlink>
    </a:clrScheme>
    <a:fontScheme name="Nexthikes Br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1166</Words>
  <Application>Microsoft Office PowerPoint</Application>
  <PresentationFormat>Widescreen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Nexthikes Bright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Nexthikes IT 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and Recommendation System</dc:title>
  <dc:subject>PptxGenJS Presentation</dc:subject>
  <dc:creator>Aksa Pathan</dc:creator>
  <cp:lastModifiedBy>Roshan Kumar</cp:lastModifiedBy>
  <cp:revision>3</cp:revision>
  <dcterms:created xsi:type="dcterms:W3CDTF">2026-10-14T10:00:18Z</dcterms:created>
  <dcterms:modified xsi:type="dcterms:W3CDTF">2026-10-18T17:16:34Z</dcterms:modified>
</cp:coreProperties>
</file>